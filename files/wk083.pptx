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5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접수 건수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5A5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지갑</c:v>
                  </c:pt>
                  <c:pt idx="1">
                    <c:v>의류</c:v>
                  </c:pt>
                  <c:pt idx="2">
                    <c:v>가방</c:v>
                  </c:pt>
                  <c:pt idx="3">
                    <c:v>휴대전화</c:v>
                  </c:pt>
                  <c:pt idx="4">
                    <c:v>귀중품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36387</c:v>
                </c:pt>
                <c:pt idx="1">
                  <c:v>27226</c:v>
                </c:pt>
                <c:pt idx="2">
                  <c:v>20662</c:v>
                </c:pt>
                <c:pt idx="3">
                  <c:v>19966</c:v>
                </c:pt>
                <c:pt idx="4">
                  <c:v>11064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접수 건수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지갑</c:v>
                  </c:pt>
                  <c:pt idx="1">
                    <c:v>의류</c:v>
                  </c:pt>
                  <c:pt idx="2">
                    <c:v>가방</c:v>
                  </c:pt>
                  <c:pt idx="3">
                    <c:v>휴대전화</c:v>
                  </c:pt>
                  <c:pt idx="4">
                    <c:v>귀중품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36387</c:v>
                </c:pt>
                <c:pt idx="1">
                  <c:v>27226</c:v>
                </c:pt>
                <c:pt idx="2">
                  <c:v>20662</c:v>
                </c:pt>
                <c:pt idx="3">
                  <c:v>19966</c:v>
                </c:pt>
                <c:pt idx="4">
                  <c:v>11064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14주차는 ⑥ 데이터 시각화 뉴스 콘텐츠 제작을 마무리하는 40시간입니다. 13주차 5일차 8시간과 합쳐 ⑥ 전체 48시간이 됩니다. 이번 주는 강의보다 제작 시간을 최대한 확보합니다.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⑥은 13주차 5일차(8h)에 시작해 이번 주 40h로 마무리됩니다. 목표 4개는 그대로 5일 일정의 뼈대가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'예쁜 차트'에 빠지기 쉽습니다. 시각화의 목적은 한 문장을 증명하는 것이라는 점을 먼저 잡고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 이름이 아니라 시청자에게 하고 싶은 말에서 출발해야 합니다. 먼저 문장을 쓰고, 그다음에 차트를 고르게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데이터를 축만 바꿔서 그렸습니다. 수치는 설명을 위한 가상 수치입니다. 실제 뉴스에서 가장 흔한 왜곡이 축 자르기입니다.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1일차 실습에서 사용합니다. 강사가 잘못된 차트 5장을 준비해 학생들이 함정을 찾고 고쳐 그리게 하는 방식을 권장합니다.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값은 강의 기준 권장안입니다. 방송사·플랫폼마다 규격이 다를 수 있으므로 실제 납품 때는 해당 규격을 확인하도록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학생이 코드를 직접 짜지 않습니다. 강사가 준비한 노트북에서 데이터 경로, 제목 문구, 강조 항목만 바꿔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13주차 5일차에 사용한 샘플 데이터(접수 건수 상위 5개 품목)를 다시 씁니다. 왼쪽은 도구 기본값 그대로, 오른쪽은 강조색 하나와 회색으로 정리한 모습입니다.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저장 코드는 노트북에 이미 들어 있습니다. 학생이 이해해야 할 것은 16×120=1920, 9×120=1080이라는 관계와 저장 후 Premiere에서 확인하는 습관입니다.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Flourish의 요금제와 기능 범위는 바뀔 수 있습니다. 수업 전에 공식 요금 페이지에서 다시 확인하세요. 아래는 작성 시점에 확인한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Flourish의 한국 지도 지원 범위는 수업 전에 직접 시험해 보세요. 안 되면 막대 차트로 대체하면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무료 플랜에서는 영상 내보내기가 안 되므로 화면녹화를 씁니다. Flourish 출처 표기는 무료 플랜의 조건이므로 가리지 않도록 지도하세요.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화면 구조를 템플릿으로 삼아 학생들이 자기 차트를 얹습니다. 슬라이드의 와이어프레임은 16:9 비율로 그렸습니다.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 프리셋과 PS 템플릿은 강사가 미리 제공합니다. 학생은 직접 처음부터 만들지 않고 교체·조정하는 수준으로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권장안입니다. 반 진도에 따라 조정하되, 4일차에 CG 시퀀스가 끝나야 5일차에 종합 리뷰가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수량은 권장안입니다. 반 상황에 맞춰 조정하세요. 점검표는 학생 상호 리뷰에서도 그대로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15주차부터 프로젝트3(시사 다큐멘터리, 10분 이내)에 들어갑니다. 인터뷰·촬영 영상은 모두 AI로 제작하는 것으로 정했으므로, 15주차에 AI 인물·촬영물 표기 규칙을 먼저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15주차는 프로젝트3 시사 다큐멘터리 제작에 들어갑니다. 주제 후보에 대한 데이터를 미리 살펴보고 오도록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뉴스 콘텐츠 제작 (마무리)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화면으로 —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 CG로 완성하는 데이터 시각화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· Flourish · After Effects · Photoshop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96596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6596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8328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도넛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80060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1792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정확하게 그리고, 한 장에 한 메시지로 보여준다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미디어캠퍼스 · AI 기반 데이터 저널리스트 양성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이번 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목표 — 정확하게 그리고, 방송 화면으로 마감한다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고르는 눈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전하고 싶은 말에 맞는 차트를 고르고, 왜곡 함정을 스스로 찾아 고친다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7108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5708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0570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05708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차트 완성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05708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코랩(Matplotlib·Seaborn)으로 방송 화면에 맞는 PNG를 만든다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05576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34176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3417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34176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차트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34176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Flourish로 움직이는 그래프를 만들고 영상 소스로 확보한다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034043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262643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62643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62643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CG로 마감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262643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Effects·Photoshop·Premiere로 한 장 한 메시지 CG 시퀀스를 완성한다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166360"/>
            <a:ext cx="1802892" cy="685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5166360"/>
            <a:ext cx="16200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5일차  8h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397252" y="5166360"/>
            <a:ext cx="9243060" cy="6858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488692" y="5166360"/>
            <a:ext cx="9060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14주차 40h  (5일 × 8h)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데이터 시각화 뉴스 콘텐츠 제작 = 13주차 8h + 14주차 40h = 48h 완료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시각화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시각화는 방송에서 CG다 — 네 가지 원칙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269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장, 한 메시지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14906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하나는 문장 하나를 증명한다. 제목이 결론 문장이면 시청자가 바로 이해한다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7108" y="1691640"/>
            <a:ext cx="2606269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5708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0570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05708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안에 읽힌다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05708" y="3337560"/>
            <a:ext cx="214906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시청자는 멈춰서 볼 수 없다. 항목은 줄이고 강조는 하나만 — 나머지는 회색으로 물러선다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05576" y="1691640"/>
            <a:ext cx="2606269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34176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3417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34176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화면에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34176" y="3337560"/>
            <a:ext cx="214906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셌는지·기준 시점·출처를 자막으로 남긴다. 13주차 숫자 점검표가 곧 CG 자막이 된다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034043" y="1691640"/>
            <a:ext cx="2606269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262643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62643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62643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규격에 맞춘다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262643" y="3337560"/>
            <a:ext cx="214906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16:9, 1920×1080에 맞춰 만들고, 글자는 크게, 가장자리 여백은 지킨다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2960" y="5257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차트를 '그린다'가 아니라, 보여주고 싶은 한 문장을 CG로 번역한다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시각화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차트는 '하고 싶은 말'로 고른다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011680"/>
                <a:gridCol w="52395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시청자에게 하고 싶은 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방송에서의 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A가 B보다 크다 (항목 비교)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이름이 길면 가로 막대, 큰 순서로 정렬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시간에 따라 변했다 (추이)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기간을 충분히 잡고, 강조할 구간 하나만 색을 준다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전체에서 이만큼 차지한다 (비중)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도넛·파이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항목은 5개 이하. 그 이상이면 막대로 바꾼다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둘이 관련 있다 (관계·분포)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산점도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보기만 해서는 안 읽힌다 — 한 줄 해석 자막을 붙인다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지역마다 다르다 (공간)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지역이 커 보이는 착시에 주의, 값은 라벨로 병기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돈·사람이 어디로 흘렀다 (흐름)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흐름도(Sankey)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Flourish 템플릿 활용, 항목 수를 줄여 단순하게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'○○는 △△하다'를 한 문장으로 쓰고, 그다음에 차트를 고른다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왜곡 함정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① 축을 자르면 작은 차이가 커 보인다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755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축이 50에서 시작한 경우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148840"/>
          <a:ext cx="5029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199632" y="164592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473952" y="1755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축이 0에서 시작한 경우</a:t>
            </a:r>
            <a:endParaRPr lang="en-US" sz="15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82512" y="2148840"/>
          <a:ext cx="5029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822960" y="54864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52 대 54 (가상 수치). 왼쪽은 B가 A의 2배로 보이고, 오른쪽은 약 4% 차이로 보인다.  규칙: 막대 차트의 축은 0에서 시작한다. 선 차트는 자를 수 있지만 잘랐다는 사실을 표시한다.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왜곡 함정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왜곡 함정 다섯 가지 — 보이면 이렇게 고친다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22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보인다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고친다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축 자르기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차이가 크게 보인다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막대는 0에서 시작, 선은 자른 사실을 표시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3D·장식 효과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뒤쪽 막대가 작아 보이고 값을 읽기 어렵다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2D 평면으로, 장식 아이콘은 최소화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기준 누락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건수인지 비율인지, 어느 기간인지 알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제목·자막에 단위·기간·분모를 쓴다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색이 너무 많다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어디를 봐야 할지 모른다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강조색 1개 + 회색. 의미 없는 무지개 금지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일부 구간만 보여주기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추세가 실제와 다르게 보인다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기간을 충분히 잡고, 구간을 고른 이유를 밝힌다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22960" y="525780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 실습  강사가 준비한 '잘못된 차트' 5장에서 함정을 찾아 → 코랩·Flourish로 고쳐 그린다. 화면에 머무는 시간이 너무 짧은 것도 함정 — Premiere에서 컷 길이로 점검한다.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방송용 규격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 전에 규격부터 정한다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908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기준 (권장)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화면비·해상도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16:9 · 1920×1080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Premiere 시퀀스와 같게 — 확대·축소 없이 얹는다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가장자리 여백(안전영역 가이드) 확보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TV·플랫폼에 따라 가장자리가 잘릴 수 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라벨도 크게, 제목은 한두 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스마트폰과 TV 모두에서 읽혀야 한다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강조색 1개 + 회색·남색, 배경과 대비 확보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시선을 한 곳으로 모으고 가독성을 지킨다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나눔고딕 계열로 통일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코랩·PS·AE에서 한글 깨짐을 막고 톤을 맞춘다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PNG (필요할 때 투명 배경)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Premiere·AE에서 바로 불러와 얹을 수 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다큐의 CG도 같은 규격으로 만든다 — 지금 몸에 익혀 두자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Matplotlib·Seaborn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 노트북은 세 셀 — 학생은 세 곳만 바꾼다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환경 설정 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폰트·라이브러리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691640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06824" y="1691640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 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CSV·시트 연결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65008" y="1691640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65008" y="1691640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차트 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그리기·저장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바꾸는 곳 (3곳)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611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데이터 경로(내 파일)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차트 제목 문구 (결론 문장)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강조할 항목 이름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11396" y="30175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539996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준비한 것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39996" y="3611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나눔고딕 설정, 색 팔레트, 16:9 크기,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자막 위치, 저장 코드까지 노트북에 포함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74152" y="30175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302752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302752" y="3611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 아래로 한 셀씩 실행.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바뀌면 ②→③만 다시 실행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22960" y="53949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에러가 나면  런타임 → 모두 실행.  셀을 위에서부터 다시 돌리면 대부분 해결된다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Matplotlib·Seaborn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차트를 '메시지 차트'로 — 꾸미기 다섯 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55648"/>
            <a:ext cx="2103120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755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— 기본 설정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194560"/>
          <a:ext cx="50749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6199632" y="164592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73952" y="1755648"/>
            <a:ext cx="2103120" cy="329184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73952" y="1755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— 메시지 중심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건수 1위는 지갑</a:t>
            </a:r>
            <a:endParaRPr lang="en-US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382512" y="2194560"/>
          <a:ext cx="50749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0"/>
          <p:cNvSpPr/>
          <p:nvPr/>
        </p:nvSpPr>
        <p:spPr>
          <a:xfrm>
            <a:off x="548640" y="53492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5349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= 결론 문장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795778" y="53492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795778" y="5349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강조색 1개 + 회색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42916" y="53492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42916" y="5349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눈금선·범례 정리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290054" y="53492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290054" y="5349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직접 표기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537192" y="53492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537192" y="5349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출처·기준 자막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Matplotlib·Seaborn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방송용으로 저장한다 — 16:9, 1920×1080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노트북에 들어 있는 저장 코드 (참고용)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plt.subplots(figsize=(16, 9))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차트 그리기 ...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fig.savefig("chart_01.png", dpi=120)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영상 위에 얹을 때만 투명 배경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fig.savefig("chart_01_alpha.png",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dpi=120, transparent=True)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0" y="1691640"/>
            <a:ext cx="450799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60920" y="1801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130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× 120 = 1920, 9 × 120 = 1080 → 1920×1080 PNG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32320" y="2862072"/>
            <a:ext cx="450799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6092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33009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주차_주제_번호_버전 (예: 14_유실물_01_v1.png)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32320" y="4032504"/>
            <a:ext cx="450799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360920" y="4142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44714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Premiere 시퀀스에 올려 글자 크기·여백을 눈으로 확인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안 읽히면 코드를 손보지 말고 노트북의 글자 크기 값 하나를 키운다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Flourish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Flourish — 표를 붙이면 움직이는 차트가 된다 (무료 플랜의 현실)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있는 것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50종 이상의 템플릿 (선·막대·지도·Sankey 등)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시간에 따라 순위가 바뀌는 막대 레이스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구글시트·CSV의 표를 붙여넣어 바로 시각화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코딩 없이 여러 안을 빠르게 비교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웹으로 공유하고 미리보기 재생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73952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플랜의 제약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73952" y="228600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발행한 프로젝트는 공개 + 출처(Flourish) 표기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발행 전 작업물은 비공개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PNG·SVG 등 이미지 다운로드는 유료 플랜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영상(비디오) 내보내기는 Enterprise 플랜에서만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일부 WebGL 템플릿은 이미지 내보내기 불가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53949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우리의 방식: Flourish에서 움직임을 만들고 → 화면녹화로 영상 소스를 확보한다. 정지 이미지는 코랩(Matplotlib)이 담당한다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Flourish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템플릿은 '움직임이 의미 있을 때' 고른다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679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이럴 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프로젝트에서의 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막대 레이스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(Bar chart race)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시간이 흐르며 순위가 바뀌는 것 자체가 이야기일 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연도별 품목·업종·지역 순위 변화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선·막대 (기본형)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비교와 추이를 가장 깔끔하게 보여줄 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변화, 항목 간 격차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지역마다 차이가 나는 것이 핵심일 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시도별 수치 비교 (한국 지도 지원은 사전 시험)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흐름도 (Sankey)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돈·사람·물건이 어디서 어디로 갔는지 보여줄 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구성, 이동·전환 경로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22960" y="56235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움직임은 양념이다 — 움직여서 이해가 빨라질 때만 쓴다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Flourish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그래프를 영상 소스로 만드는 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35758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26357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Flourish 미리보기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확인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67278" y="1691640"/>
            <a:ext cx="2635758" cy="1051560"/>
          </a:xfrm>
          <a:prstGeom prst="roundRect">
            <a:avLst>
              <a:gd name="adj" fmla="val 69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67278" y="1691640"/>
            <a:ext cx="26357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화면녹화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(OBS 등)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85916" y="1691640"/>
            <a:ext cx="2635758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5916" y="1691640"/>
            <a:ext cx="26357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Premiere에서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컷·속도 정리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004554" y="1691640"/>
            <a:ext cx="2635758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04554" y="1691640"/>
            <a:ext cx="26357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 클립 완성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(영상 소스)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 전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840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창 크기를 16:9에 맞추고, 화면 배율을 고정한다. 메뉴·알림이 찍히지 않게 정리한다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311396" y="30175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39996" y="3200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3999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180076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 중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39996" y="3840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애니메이션은 처음부터 끝까지 한 번에. Flourish 출처 표기는 화면에서 가리지 않는다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074152" y="30175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02752" y="3200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0275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942832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 후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302752" y="3840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빠르면 Premiere에서 속도·길이를 조정하고, 읽는 시간만큼 마지막 화면을 붙잡아 둔다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저작권·출처: 공개 발행된 프로젝트에는 데이터 출처도 화면 자막으로 함께 남긴다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CG 마감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한 메시지 CG의 구조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766560" cy="380619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74520"/>
            <a:ext cx="6217920" cy="34404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051560" y="2057400"/>
            <a:ext cx="57607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1560" y="20574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= 결론 문장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051560" y="2834640"/>
            <a:ext cx="5760720" cy="1783080"/>
          </a:xfrm>
          <a:prstGeom prst="rect">
            <a:avLst/>
          </a:prstGeom>
          <a:solidFill>
            <a:srgbClr val="F4F6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54480" y="3954780"/>
            <a:ext cx="640080" cy="5257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3534156"/>
            <a:ext cx="640080" cy="9464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903220"/>
            <a:ext cx="640080" cy="15773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3744468"/>
            <a:ext cx="640080" cy="7360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94960" y="4059936"/>
            <a:ext cx="640080" cy="42062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51560" y="4720590"/>
            <a:ext cx="576072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472059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기준 시점 · 단위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589520" y="1691640"/>
            <a:ext cx="4050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26680" y="18928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266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헤드라인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2057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결론을 한 문장으로. 차트 이름이 아니라 메시지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89520" y="2679192"/>
            <a:ext cx="4050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726680" y="2880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266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366760" y="2752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영역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30449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 하나(amber), 나머지는 회색. 값은 직접 표기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589520" y="3666744"/>
            <a:ext cx="4050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726680" y="386791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266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366760" y="3739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자막바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8366760" y="40325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셌는지·기준 시점·출처. 13주차 숫자 점검표 그대로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589520" y="4654296"/>
            <a:ext cx="4050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726680" y="4855464"/>
            <a:ext cx="457200" cy="45720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2668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366760" y="4727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= 안전영역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8366760" y="50200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글자·차트는 점선 안쪽에 배치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구조가 코랩 노트북(자막 위치)·Photoshop 템플릿·AE 프리셋에 공통으로 들어간다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CG 마감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프로그램의 역할 — 정확성은 코랩이, 연출은 여기서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Photoshop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CG 마감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캔버스 1920×1080 + 안전영역 가이드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출처 자막바 템플릿 (강사 제공)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강조 하이라이트·주석 화살표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PNG로 저장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11396" y="169164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11396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39996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Effects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539996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CG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39996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차트 PNG를 불러와 배치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539996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마스크로 왼쪽에서 오른쪽 등장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39996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숫자 카운트업 (강사 제공 프리셋)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39996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강조 부분으로 확대(줌) → 렌더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74152" y="169164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74152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02752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 Pro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8302752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편집에 얹기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302752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시퀀스 1920×1080 · 컷 길이 점검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302752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화면 시간 = 읽는 시간 + 여유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8302752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내레이션·음악 타이밍과 맞추기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302752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자막과 겹치지 않는지 확인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수치는 코랩·Flourish에서 확정한다. 마감 단계(PS·AE·Premiere)에서는 숫자를 고치지 않는다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운영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40시간 운영 일정 (권장안)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원칙·차트 선택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원칙·차트 고르기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차트 5장 고치기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차트 리뷰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메시지 문장 쓰기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807208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807208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90088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2990088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심화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944368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90088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꾸미기 다섯 가지 적용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944368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90088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방송용 저장(16:9)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944368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90088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3종 완성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944368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990088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확인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65776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65776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48656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248656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Flourish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202936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248656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고르기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202936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48656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차트 1개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202936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248656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화면녹화로 소스 확보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202936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248656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제약 점검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324344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324344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07224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4일차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7507224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 마감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461504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507224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 자막바·정지 CG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7461504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507224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 모션(등장·카운트업)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7461504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507224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Premiere에 얹기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461504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07224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 시퀀스 30~40초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9582912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9582912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765792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</a:t>
            </a:r>
            <a:endParaRPr lang="en-US" sz="1800" dirty="0"/>
          </a:p>
        </p:txBody>
      </p:sp>
      <p:sp>
        <p:nvSpPr>
          <p:cNvPr id="57" name="Text 54"/>
          <p:cNvSpPr txBox="1"/>
          <p:nvPr/>
        </p:nvSpPr>
        <p:spPr>
          <a:xfrm>
            <a:off x="9765792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종합·프로젝트3 예고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9720072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765792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산출물 제출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9720072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765792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 리뷰·피드백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9720072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765792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반영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9720072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765792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예고</a:t>
            </a:r>
            <a:endParaRPr lang="en-US" sz="1150" dirty="0"/>
          </a:p>
        </p:txBody>
      </p:sp>
      <p:sp>
        <p:nvSpPr>
          <p:cNvPr id="66" name="Text 6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8h × 5일 = 40h   /   ⑥ 전체 = 13주차 8h + 14주차 40h = 48h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운영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산출물과 제출 전 다섯 가지 점검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30175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(권장)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Matplotlib·Seaborn 차트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PNG 3개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1920×1080, 나눔고딕, 제목=결론 문장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Flourish 차트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 + 녹화 클립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표기 유지, 움직임에 이유가 있을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CG 시퀀스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30~40초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Premiere에 얹은 최종 렌더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이유 메모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차트별 한 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 차트인지, 어떤 함정을 피했는지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691640"/>
            <a:ext cx="3959352" cy="4343400"/>
          </a:xfrm>
          <a:prstGeom prst="roundRect">
            <a:avLst>
              <a:gd name="adj" fmla="val 184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9552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 다섯 가지 점검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955280" y="23317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제목이 결론 문장인가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955280" y="304495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552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0449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단위·기준 시점·출처가 있는가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955280" y="3758184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5528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37581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차트 축이 0에서 시작하는가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7955280" y="447141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955280" y="4471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44714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강조색이 하나뿐인가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7955280" y="518464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955280" y="5184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5184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읽히는가 (글자·시간)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다음 주 예고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예고 — 다큐 속 데이터는 조용하게 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⑥ 데이터 시각화 마무리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10972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정보프로그램의 CG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속도감 — 큰 숫자, 효과음, 빠른 컷. 숫자가 궁금증을 만든다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45352" y="16916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45352" y="1691640"/>
            <a:ext cx="109728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11112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다큐멘터리의 CG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611112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 — 한 번에 숫자 하나, 내레이션과 인물 이야기 사이에서 '근거'로만 쓴다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461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다큐 7시퀀스 중 데이터 CG가 들어가는 세 곳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6118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3730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 도입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크기를 숫자 한 장으로 — 인물의 이야기가 왜 중요한지 열어 준다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11396" y="36118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539996" y="3730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 본문② 전환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39996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인물의 경험이 한 사람만의 일이 아님을 보여 주는 근거 데이터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74152" y="36118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302752" y="3730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S#7 에필로그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302752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변화의 추이 또는 남은 질문을 조용한 한 장으로 남긴다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22960" y="53949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프로젝트3: 시사 다큐 10분 이내 · 인터뷰·촬영 영상은 AI로 제작 · 15주차 40h 제작 → 16주차 32h 완성 + 수료식 8h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5448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시각화는 방송에서 CG다 — 한 장에 한 메시지, 제목이 곧 결론 문장이다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42316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차트는 하고 싶은 말로 고르고, 축 자르기 같은 왜곡 함정은 발행 전에 스스로 잡는다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918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코랩은 정확한 정지 차트, Flourish는 움직이는 소스 — 무료 플랜의 제약은 화면녹화로 푼다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6052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PS·AE·Premiere는 연출을 담당하고, 마감 단계에서 숫자는 고치지 않는다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502920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산출물로 ⑥ 데이터 시각화 뉴스 콘텐츠 제작 48h가 완료된다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시간(15주차): ⑨ 프로젝트3 시사 다큐멘터리 제작 착수 [40h]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14주차 강의안 - ⑥ 데이터 시각화 뉴스 콘텐츠 제작 마무리</dc:title>
  <dc:subject>PptxGenJS Presentation</dc:subject>
  <dc:creator>PptxGenJS</dc:creator>
  <cp:lastModifiedBy>PptxGenJS</cp:lastModifiedBy>
  <cp:revision>1</cp:revision>
  <dcterms:created xsi:type="dcterms:W3CDTF">2026-09-21T04:24:13Z</dcterms:created>
  <dcterms:modified xsi:type="dcterms:W3CDTF">2026-09-21T04:24:13Z</dcterms:modified>
</cp:coreProperties>
</file>