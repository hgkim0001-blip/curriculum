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시간</c:v>
                </c:pt>
              </c:strCache>
            </c:strRef>
          </c:tx>
          <c:spPr>
            <a:solidFill>
              <a:srgbClr val="1223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44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③ 도메인 뉴스 세팅</c:v>
                  </c:pt>
                  <c:pt idx="1">
                    <c:v>④ AI 영상 제작·자동화</c:v>
                  </c:pt>
                  <c:pt idx="2">
                    <c:v>⑤ AI 팩트체킹</c:v>
                  </c:pt>
                  <c:pt idx="3">
                    <c:v>⑧ 데이터 탐사보도</c:v>
                  </c:pt>
                  <c:pt idx="4">
                    <c:v>⑨ 시각화 활용 콘텐츠</c:v>
                  </c:pt>
                  <c:pt idx="5">
                    <c:v>⑦ RAG 기반 보도</c:v>
                  </c:pt>
                  <c:pt idx="6">
                    <c:v>⑥ 데이터 시각화</c:v>
                  </c:pt>
                  <c:pt idx="7">
                    <c:v>⑭ 가짜뉴스 대응</c:v>
                  </c:pt>
                  <c:pt idx="8">
                    <c:v>⑩ 제작현장지원실습</c:v>
                  </c:pt>
                  <c:pt idx="9">
                    <c:v>① 윤리·법적 책임</c:v>
                  </c:pt>
                  <c:pt idx="10">
                    <c:v>⑫ 현장탐방 · ⑬ 수료식</c:v>
                  </c:pt>
                  <c:pt idx="11">
                    <c:v>⑪ OT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120</c:v>
                </c:pt>
                <c:pt idx="1">
                  <c:v>120</c:v>
                </c:pt>
                <c:pt idx="2">
                  <c:v>80</c:v>
                </c:pt>
                <c:pt idx="3">
                  <c:v>72</c:v>
                </c:pt>
                <c:pt idx="4">
                  <c:v>72</c:v>
                </c:pt>
                <c:pt idx="5">
                  <c:v>56</c:v>
                </c:pt>
                <c:pt idx="6">
                  <c:v>48</c:v>
                </c:pt>
                <c:pt idx="7">
                  <c:v>24</c:v>
                </c:pt>
                <c:pt idx="8">
                  <c:v>16</c:v>
                </c:pt>
                <c:pt idx="9">
                  <c:v>14</c:v>
                </c:pt>
                <c:pt idx="10">
                  <c:v>8</c:v>
                </c:pt>
                <c:pt idx="1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44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8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MBC 데이터저널리스트 과정 · 전체 강의 서머리 (강사·내부 참고용)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MBC 미디어캠퍼스 · 640시간 · 16주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데이터 저널리스트 양성 과정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강의 서머리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데이터기반 영상제작전문가 · 데이터로 검증된 사실을 담은 영상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강사·내부 참고용  |  마스터 최종종합안(정보프로그램 반영) 기준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한눈에 보기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기자 지망생에 한정하지 않고, 유튜버·마케터·소상공인·브랜드 담당자까지 포괄하는 실무형 과정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640h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훈련시간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64992" y="160020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4992" y="173736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364992" y="26517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40시간 기준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81344" y="160020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1344" y="173736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181344" y="26517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프로젝트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97696" y="160020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97696" y="173736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24h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997696" y="26517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MBC 현장 참여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576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“AI로 빠르게 만드는 영상이 아니라, 데이터로 검증된 사실을 담은 영상”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과정명·교과목명·교과목별 훈련시간은 원안 그대로 유지, 세부내용과 실습 방식만 재구성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코드를 직접 작성·실행하는 순간은 없음. 완성 템플릿·노코드 도구 중심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‘어떤 도구를 언제 쓸지’ 판단하는 능력을 기르는 것이 목표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 파이프라인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프로젝트는 이 흐름을 한 바퀴 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03120" cy="329184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수집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구글시트 IMPORTXML 템플릿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474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URL만 교체하면 자동 수집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88920" y="1737360"/>
            <a:ext cx="2103120" cy="329184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정제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26080" y="2560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AI챗봇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3474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GPTs·Gems·Claude Projects 중 택1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1737360"/>
            <a:ext cx="2103120" cy="3291840"/>
          </a:xfrm>
          <a:prstGeom prst="roundRect">
            <a:avLst>
              <a:gd name="adj" fmla="val 434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팩트체크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66360" y="2560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NotebookLM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66360" y="3474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C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업로드 후 질문, 출처기반 답변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1737360"/>
            <a:ext cx="2103120" cy="329184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스크립트화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406640" y="2560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AI챗봇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06640" y="3474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데이터로 기사·시나리오 초고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09760" y="1737360"/>
            <a:ext cx="2103120" cy="329184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영상화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46920" y="2560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+ Premiere·AE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46920" y="3474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대본을 영상으로 완성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팩트체크(③)가 중심축. AI가 내놓은 숫자와 주장은 반드시 출처로 검증한 뒤 대본과 영상으로 넘어간다.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 로드맵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표시는 MBC 물리적 참여 주차 (5주 현장탐방, 9주 현장실습)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03120" cy="640080"/>
          </a:xfrm>
          <a:prstGeom prst="roundRect">
            <a:avLst>
              <a:gd name="adj" fmla="val 17143"/>
            </a:avLst>
          </a:prstGeom>
          <a:solidFill>
            <a:srgbClr val="17808A"/>
          </a:solidFill>
          <a:ln w="12700">
            <a:solidFill>
              <a:srgbClr val="1780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60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다지기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윤리·가짜뉴스 대응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뉴스 세팅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AI챗봇 자동화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88920" y="1645920"/>
            <a:ext cx="2103120" cy="640080"/>
          </a:xfrm>
          <a:prstGeom prst="roundRect">
            <a:avLst>
              <a:gd name="adj" fmla="val 17143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5~8주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88920" y="242316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560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제작 실무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32461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영상문법·AI 생성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Premiere·AE·Photoshop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+ 프로젝트1 착수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1645920"/>
            <a:ext cx="2103120" cy="640080"/>
          </a:xfrm>
          <a:prstGeom prst="roundRect">
            <a:avLst>
              <a:gd name="adj" fmla="val 17143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9~11주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29200" y="242316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2560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프로젝트1 + 팩트체킹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66360" y="32461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리포트 완성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MBC 현장실습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팩트체킹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69480" y="1645920"/>
            <a:ext cx="2103120" cy="640080"/>
          </a:xfrm>
          <a:prstGeom prst="roundRect">
            <a:avLst>
              <a:gd name="adj" fmla="val 17143"/>
            </a:avLst>
          </a:prstGeom>
          <a:solidFill>
            <a:srgbClr val="17808A"/>
          </a:solidFill>
          <a:ln w="12700">
            <a:solidFill>
              <a:srgbClr val="1780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12~14주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269480" y="242316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2560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탐사·정보프로그램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06640" y="32461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프로젝트2 제작·발표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시각화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509760" y="1645920"/>
            <a:ext cx="2103120" cy="640080"/>
          </a:xfrm>
          <a:prstGeom prst="roundRect">
            <a:avLst>
              <a:gd name="adj" fmla="val 17143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15~16주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509760" y="242316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46920" y="2560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시사다큐 + 수료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46920" y="32461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프로젝트3 제작·발표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수료식·종합 상영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MBC 필수 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 현장탐방 8h (뉴스데스크 사전답사)  ·  9주 제작현장지원실습 16h (프로젝트1 완성작 실무검증)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교과목별 시간 구성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연번은 원안 기준, 총 640시간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7498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55448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1645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240h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503920" y="21945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③·④가 각 120h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세팅과 영상 제작이 두 축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321040" y="31089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0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80h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503920" y="3749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팩트체킹은 10~11주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(NotebookLM 노코드 중심)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321040" y="46634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0" y="4754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72h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503920" y="5303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⑧·⑨ 각 72h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프로젝트2·3을 포함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1~4주차: 윤리와 도메인 뉴스 세팅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도메인에 맞는 뉴스 세팅하기 120h는 2~4주에 완료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822960" cy="457200"/>
          </a:xfrm>
          <a:prstGeom prst="roundRect">
            <a:avLst>
              <a:gd name="adj" fmla="val 24000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윤리·가짜뉴스 대응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 2h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저널리즘·콘텐츠 윤리와 법적 책임 14h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AI시대 가짜뉴스·허위정보 대응 24h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783080"/>
            <a:ext cx="822960" cy="457200"/>
          </a:xfrm>
          <a:prstGeom prst="roundRect">
            <a:avLst>
              <a:gd name="adj" fmla="val 24000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092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확장·로봇저널리즘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423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+ 브랜드·트렌드로 도메인 확장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로봇저널리즘·AI기사생성 원리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160520"/>
            <a:ext cx="822960" cy="457200"/>
          </a:xfrm>
          <a:prstGeom prst="roundRect">
            <a:avLst>
              <a:gd name="adj" fmla="val 24000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60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736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수집·정제와 자동화 실습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GPTs·Gems·Claude Projects 기반 자동화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구글시트 수집, 코랩 표준 노트북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160520"/>
            <a:ext cx="822960" cy="457200"/>
          </a:xfrm>
          <a:prstGeom prst="roundRect">
            <a:avLst>
              <a:gd name="adj" fmla="val 24000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160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6092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파인튜닝·AI생성물 검수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46520" y="48006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도메인별 파인튜닝 (지시문 v1→v7)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AI생성물 검수·품질개선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5~8주차: 영상 제작 실무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AI 협업 뉴스 영상 제작 및 자동화 120h, 8주 앞부분에서 완료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03120" y="15087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영상문법 8h + 프롬프트 8h + AI 삽화·영상생성 16h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MBC 뉴스데스크 사전답사(현장탐방 8h)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0" y="187452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MBC 필수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8892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889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03120" y="278892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Premiere 편집실무 30h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컷편집·시퀀스·컬러·사운드 / AI 자동화 통합 일부 10h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06908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690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03120" y="40690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Effects 모션그래픽 30h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로어써드·텍스트애니메이션·2.5D 카메라 / Photoshop 일부 10h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34924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3492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103120" y="534924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Photoshop·자동화 마무리 8h → ④ 완료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활용법 핵심 16h + 프로젝트1 착수 16h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9~11주차: 프로젝트1 완성과 팩트체킹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RAG 보도 56h 완료(9주) → ⑤ AI 팩트체킹 80h 완료(11주)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468880" y="192024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MBC 필수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프로젝트1 완성·발표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리포트 영상 3분 이내 24h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제작현장지원실습 16h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MBC에서 완성작 실무검증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916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10주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팩트체킹 핵심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등 노코드 RAG 활용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할루시네이션 원리·실제 사례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 Check API·AI검색 그라운딩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6916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11주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2104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팩트체킹 심화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2918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뉴스·브랜드·트렌드 도메인별 케이스스터디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카드뉴스 변환 실습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영상연계 후속실습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12~16주차: 정보프로그램, 시각화, 시사다큐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72h(13주) · ⑥ 48h(14주) · ⑨ 72h(16주) 순으로 완료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1371600" cy="841248"/>
          </a:xfrm>
          <a:prstGeom prst="roundRect">
            <a:avLst>
              <a:gd name="adj" fmla="val 1087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03120" y="1463040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데이터 탐사보도 핵심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프로젝트2(정보프로그램) 제작 착수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459736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59736"/>
            <a:ext cx="1371600" cy="841248"/>
          </a:xfrm>
          <a:prstGeom prst="roundRect">
            <a:avLst>
              <a:gd name="adj" fmla="val 1087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59736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03120" y="245973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프로젝트2 완성·발표 32h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완료 / 데이터 시각화(Python+Flourish) 착수 8h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456432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56432"/>
            <a:ext cx="1371600" cy="841248"/>
          </a:xfrm>
          <a:prstGeom prst="roundRect">
            <a:avLst>
              <a:gd name="adj" fmla="val 1087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56432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03120" y="3456432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시각화 뉴스콘텐츠 제작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Matplotlib·Seaborn + Flourish 마무리, ⑥ 완료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53128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453128"/>
            <a:ext cx="1371600" cy="841248"/>
          </a:xfrm>
          <a:prstGeom prst="roundRect">
            <a:avLst>
              <a:gd name="adj" fmla="val 1087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53128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103120" y="445312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프로젝트3 제작 진행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 다큐멘터리 10분 이내, 데이터 시각화 활용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449824"/>
            <a:ext cx="1371600" cy="841248"/>
          </a:xfrm>
          <a:prstGeom prst="roundRect">
            <a:avLst>
              <a:gd name="adj" fmla="val 1087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449824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103120" y="5449824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프로젝트3 완성 32h + 수료식 8h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완료 / 프로젝트1·2·3 종합 상영·발표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캡스톤 프로젝트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파이프라인을 반복하며 난이도가 한 단계씩 올라간다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1554480" cy="411480"/>
          </a:xfrm>
          <a:prstGeom prst="roundRect">
            <a:avLst>
              <a:gd name="adj" fmla="val 26667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리포트 영상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 과목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3063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RAG 보도 56h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7216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65960" y="37216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이내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37997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65960" y="437997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속보성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03834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50383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8~9주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783080"/>
            <a:ext cx="1554480" cy="411480"/>
          </a:xfrm>
          <a:prstGeom prst="roundRect">
            <a:avLst>
              <a:gd name="adj" fmla="val 26667"/>
            </a:avLst>
          </a:prstGeom>
          <a:solidFill>
            <a:srgbClr val="17808A"/>
          </a:solidFill>
          <a:ln w="12700">
            <a:solidFill>
              <a:srgbClr val="1780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정보프로그램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0" y="3063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 과목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15000" y="3063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데이터 탐사보도 72h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37216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0" y="37216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 없음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437997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15000" y="437997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· 심층 취재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503834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15000" y="50383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12~13주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4672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1783080"/>
            <a:ext cx="1554480" cy="411480"/>
          </a:xfrm>
          <a:prstGeom prst="roundRect">
            <a:avLst>
              <a:gd name="adj" fmla="val 26667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2104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 다큐멘터리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321040" y="3063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 과목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464040" y="3063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시각화 활용 72h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21040" y="37216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분량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464040" y="37216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 이내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21040" y="437997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464040" y="437997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· 서사·최종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21040" y="503834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464040" y="50383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15~16주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프로젝트1 직후 현장실습(9주)에서 MBC 실무 기준으로 검증받고, 프로젝트3(AI 제작 인터뷰·촬영 영상 포함)으로 마무리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MBC 현장 연계와 지정 교재 재해석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029200" cy="4846320"/>
          </a:xfrm>
          <a:prstGeom prst="roundRect">
            <a:avLst>
              <a:gd name="adj" fmla="val 188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MBC 현장 24h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  현장탐방 8h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MBC 뉴스데스크 사전답사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  제작현장지원실습 16h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프로젝트1 완성작을 MBC 실무 기준으로 검증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자동화 앵커 뉴스 영상 제작 지원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원안 내용·장소(MBC 뉴스데스크)는 유지하고 배치 시점만 프로젝트와 연계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280160"/>
            <a:ext cx="576072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0" y="12801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영상 제작 (엔미디어)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삽화영상 → 브랜드·유튜브·광고 영상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0" y="2514600"/>
            <a:ext cx="576072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2514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챗GPT와 업무자동화 (김철수)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기사 자동화 → 콘텐츠·마케팅 카피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52160" y="3749040"/>
            <a:ext cx="576072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37490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랭체인 실전 가이드 (윤성재)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구축 → GPTs·Gems·NotebookLM 활용 중심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52160" y="4983480"/>
            <a:ext cx="576072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49834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전처리와 시각화 with 파이썬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데이터 → 마케팅·매출 + Flourish 병행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과정에서 자체 개발한 핵심 도구·자료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현장에서 반복 테스트하며 다듬은 것들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도메인톤 챗봇 지시문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v1→v7 파인튜닝. 뉴스 2분·브랜드 1분·트렌드 30초 표준 러닝타임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7830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7808A"/>
          </a:solidFill>
          <a:ln w="12700">
            <a:solidFill>
              <a:srgbClr val="1780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 뉴스 원고작성봇 v1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4688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결함을 막는 절대규칙 4개, 출력 전 자체검증 단계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7830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팩트체크 실습 세트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24688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워크시트 + 강사 해답가이드, 지침 개선 전/후 비교표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16052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7808A"/>
          </a:solidFill>
          <a:ln w="12700">
            <a:solidFill>
              <a:srgbClr val="1780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코랩 표준 노트북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8463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3개 구성·나눔고딕. RAG 원리 시연 노트북은 강사 시연 전용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16052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수집 실습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0" y="48463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 API Apps Script 트리거(매일 7시), 박스오피스 코랩 4종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16052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7808A"/>
          </a:solidFill>
          <a:ln w="12700">
            <a:solidFill>
              <a:srgbClr val="1780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6968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 사례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21040" y="48463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추석 연휴 날씨 이슈리포트 영상, 배달앱 수수료 탐사 데모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강의에서 꼭 전할 세 가지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94560" y="1645920"/>
            <a:ext cx="9235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그럴듯한 거짓을 만든다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5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관계자 코멘트 지어내기 · 확률을 확정으로 과장 · 방송사명·기자명 비익명화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194560" y="3154680"/>
            <a:ext cx="9235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오류의 원인은 지시문 설계다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5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젬스·노트북LM 양쪽에서 재현. 지침 v1 적용 후 3대 결함은 재현되지 않음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6634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194560" y="4663440"/>
            <a:ext cx="9235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RAG는 막지 못해도 발견은 돕는다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5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실무는 NotebookLM + 사람의 검증, 교육은 원리를 열어서 시연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현황과 남은 과제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자료실 기준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8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완료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1~16주 강의안과 주요 실습자료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마스터·세부내용·시간표 (정보프로그램 반영본)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프로젝트1·2·3 가이드와 시범사례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팩트체크 실습, 코랩 노트북, 자동수집 가이드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과제·확인 필요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 제작현장지원실습 오리엔테이션 자료 (미제작)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 ‘분석’ 단계 보강: 체크리스트 + AI챗봇 노코드 분석 (자료 반영 전)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11·12주 PPT의 정보프로그램 명칭 반영 여부 확인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 개정안 확정 여부 (다음 슬라이드)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중인 개정안 (미확정)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 개정안 기준. 확정 전까지 본 자료는 현행 마스터 기준으로 작성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5029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마스터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5단계 (수집→정제→팩트체크→스크립트→영상화)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7단계: 기획, 인사이트 도출 추가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120h 배분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 30h · Photoshop·자동화 28h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 12h · Photoshop 20h, AI 생성 +12h · Premiere +6h · 보충 8h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 도달선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툴별 균등 학습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필수선(전원)·도전선(선택) 구분, AE는 템플릿 수정 수준, C4D 제외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수료 산출물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 3편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 + 근거 패키지 (기획서·데이터·팩트체크 기록·대본·AI 생성물 목록)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필요: ④ 과목 내 시간 조정 가능 여부, AE 시수, AI 생성물 사용 기준, 필수선 평가 체크리스트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저널리스트 과정 전체 강의 서머리</dc:title>
  <dc:subject>PptxGenJS Presentation</dc:subject>
  <dc:creator>MBC 데이터저널리스트 과정</dc:creator>
  <cp:lastModifiedBy>MBC 데이터저널리스트 과정</cp:lastModifiedBy>
  <cp:revision>1</cp:revision>
  <dcterms:created xsi:type="dcterms:W3CDTF">2026-10-06T03:53:07Z</dcterms:created>
  <dcterms:modified xsi:type="dcterms:W3CDTF">2026-10-06T03:53:07Z</dcterms:modified>
</cp:coreProperties>
</file>