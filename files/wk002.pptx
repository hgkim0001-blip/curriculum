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19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94960"/>
            <a:ext cx="12161520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MBC 미디어캠퍼스 · AI 기반 데이터 저널리스트 양성 과정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오리엔테이션 · 콘텐츠 윤리와 법적 책임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시대 가짜뉴스 대응전략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480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데이터로 검증된 사실을 담은 영상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 2h    </a:t>
            </a:r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⑭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저널리즘 윤리와 법적 책임  14h    </a:t>
            </a:r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⑪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시대 가짜뉴스 대응전략  24h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· 2H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오늘의 학습 목표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과정 정체성 이해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“빠르게 만드는 영상”이 아닌 “데이터로 검증된 사실을 담은 영상” 제작 파이프라인을 이해한다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제작자의 법적 책임 인식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명예훼손·저작권·초상권·표시광고 의무 등 콘텐츠 제작자가 반드시 지켜야 할 법적 기준을 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7532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허위정보 대응력 확보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만든 가짜뉴스·허위정보를 구별하고 검증하는 실전 전략을 익힌다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IDENTITY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AI로 빠르게 만드는 영상이 아니라,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데이터로 검증된 사실을 담은 영상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2121408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97180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수집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83280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구글시트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IMPORTXML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670048" y="32461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926080" y="2834640"/>
            <a:ext cx="2121408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6080" y="297180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정제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3383280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전용 AI챗봇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GPTs·Gems·Projects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047488" y="32461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303520" y="2834640"/>
            <a:ext cx="2121408" cy="1371600"/>
          </a:xfrm>
          <a:prstGeom prst="roundRect">
            <a:avLst>
              <a:gd name="adj" fmla="val 4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03520" y="297180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팩트체크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3383280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출처기반 답변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424928" y="32461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680960" y="2834640"/>
            <a:ext cx="2121408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0" y="297180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스크립트화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3383280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전용 AI챗봇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기사·시나리오 초고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802368" y="324612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058400" y="2834640"/>
            <a:ext cx="2121408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0" y="297180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 영상화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0" y="3383280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삽화·영상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Pr·AE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84632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파이프라인 전체에서 학생이 코드를 직접 작성·실행하는 순간은 없습니다. 코드·API는 강사가 사전 제작한 완성 도구로만 제공되며, 학생은 “어떤 도구를 언제 쓸지” 판단하는 능력을 기릅니다.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16주 로드맵 한눈에 보기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2075688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42316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OT·윤리·가짜뉴스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96596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3592" y="2075688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2-4주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42316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세팅 (120h)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96596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73952" y="2075688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5-8주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242316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영상 제작·자동화 (120h)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89720" y="196596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54312" y="2075688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8-9주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354312" y="242316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활용 + 프로젝트1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3447288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10-11주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379476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팩트체킹 (80h)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29000" y="333756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93592" y="3447288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12-13주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593592" y="379476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탐사보도 + 프로젝트2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333756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3952" y="3447288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13-14주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73952" y="379476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시각화 (48h)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189720" y="3337560"/>
            <a:ext cx="2651760" cy="1051560"/>
          </a:xfrm>
          <a:prstGeom prst="roundRect">
            <a:avLst>
              <a:gd name="adj" fmla="val 608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354312" y="3447288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15-16주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354312" y="379476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프로젝트3 + 수료식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709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우리는 여기서 시작합니다 →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8036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저널리즘 윤리와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법적 책임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26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14시간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1887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저널리즘 윤리와 사회적 책임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9659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언론법과 법적 책임 (명예훼손·저작권·초상권)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27432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인플루언서 표시광고법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35204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AI콘텐츠 시대의 미디어 리터러시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42976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윤리적 제작 사례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1-1 · 저널리즘 윤리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저널리즘 윤리와 사회적 책임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73152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019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진실 추구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0428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사실 확인 없는 속보 경쟁은 오보로 이어진다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73152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30449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공정성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4728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한쪽 입장만 전달하지 않는다 — 브랜드 콘텐츠도 동일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73152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41879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책임성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59028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제작자는 자신이 만든 콘텐츠의 파급력을 책임진다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1920240"/>
            <a:ext cx="5303520" cy="3429000"/>
          </a:xfrm>
          <a:prstGeom prst="roundRect">
            <a:avLst>
              <a:gd name="adj" fmla="val 160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2148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브랜드·유튜브 콘텐츠에도 적용되는가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69748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과거에는 ‘기자’만 지키면 되는 규범이었지만, 지금은 유튜버·마케터·소상공인도 대중에게 영향을 미치는 콘텐츠 제작자입니다. AI로 제작 속도가 빨라질수록 검증 없는 콘텐츠의 확산 속도와 피해 규모도 함께 커집니다.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· 언론법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명예훼손 — 사실이어도 책임질 수 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3566160"/>
          </a:xfrm>
          <a:prstGeom prst="roundRect">
            <a:avLst>
              <a:gd name="adj" fmla="val 153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사실 적시 명예훼손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2491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형법 제307조 제1항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0040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사실이라도 공연히 특정인의 사회적 평가를 저하시키면 성립 가능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349240" cy="3566160"/>
          </a:xfrm>
          <a:prstGeom prst="roundRect">
            <a:avLst>
              <a:gd name="adj" fmla="val 153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1945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허위사실 적시 명예훼손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72491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형법 제307조 제2항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20040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허위임을 알면서 유포 시 가중처벌 (5년 이하 징역)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포인트: “사실이니까 괜찮다”는 방어 논리가 통하지 않는 경우가 많습니다 — 위법성 조각 요건(공공의 이익·진실성)을 충족해야 면책됩니다.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· 저작권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저작권 — 유튜브 Content ID 시스템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874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ID 매칭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8745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업로드 영상이 저작권자 등록 콘텐츠와 일치하면 자동 감지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834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저작권자의 선택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8346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차단 / 수익 공유 / 시청 데이터 추적 중 선택 가능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저작권 위반 경고(스트라이크)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7947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3회 누적 시 채널 삭제 — AI 생성물도 원본 저작권 예외 아님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754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 이용(Fair Use)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4754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비평·패러디·교육 목적이라도 자동 면책되지 않음 — 개별 판단 필요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· 초상권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초상권 — 얼굴과 목소리를 다룰 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3291840"/>
          </a:xfrm>
          <a:prstGeom prst="roundRect">
            <a:avLst>
              <a:gd name="adj" fmla="val 1944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356616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동의 없는 촬영·공표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타인의 얼굴·신체를 동의 없이 촬영해 공개하면 초상권 침해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3566160" cy="3291840"/>
          </a:xfrm>
          <a:prstGeom prst="roundRect">
            <a:avLst>
              <a:gd name="adj" fmla="val 1944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965960"/>
            <a:ext cx="356616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7720" y="2286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합성·딥페이크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2004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실존 인물의 얼굴을 AI로 합성해 사용 시 초상권 + 명예훼손 이중 리스크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965960"/>
            <a:ext cx="3566160" cy="3291840"/>
          </a:xfrm>
          <a:prstGeom prst="roundRect">
            <a:avLst>
              <a:gd name="adj" fmla="val 1944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965960"/>
            <a:ext cx="356616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0" y="2286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공인의 예외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2004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공적 인물도 사생활 영역까지 자유롭게 다룰 수 있는 것은 아님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· 표시광고법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인플루언서 표시광고법 체크리스트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89280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협찬·광고 여부를 영상 제목이 아닌 ‘본문 시작 전’ 명확히 표기했는가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76148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텍스트는 배경과 구분되는 색·크기로, 최소 5초 이상 노출했는가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363016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 언급 시 시청자가 놓치지 않을 위치·속도로 고지했는가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4498848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‘내돈내산’처럼 광고를 협찬 아닌 것처럼 표현하지 않았는가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근거: 공정거래위원회 《추천·보증 등에 관한 표시·광고 심사지침》 — 위반 시 시정명령·과태료 대상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1-4 · 미디어 리터러시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AI콘텐츠 시대의 미디어 리터러시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383280" cy="3291840"/>
          </a:xfrm>
          <a:prstGeom prst="roundRect">
            <a:avLst>
              <a:gd name="adj" fmla="val 194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급증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976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텍스트·이미지·영상 전 영역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196596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출처가 불분명한 콘텐츠를 소비자가 ‘진짜’로 오인하는 빈도 증가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251960" y="301752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제작자에게는 ‘AI가 만들었다는 사실’을 밝힐 윤리적 의무가 새로 부과됨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406908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소비자에게는 출처·워터마크·역검색 등 스스로 검증하는 습관이 요구됨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1-5 · 사례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윤리적 제작 사례 — 뉴스 · 브랜드 · 유튜브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3291840"/>
          </a:xfrm>
          <a:prstGeom prst="roundRect">
            <a:avLst>
              <a:gd name="adj" fmla="val 1944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240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뉴스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정정보도문을 기사와 동일한 노출 위치에 게재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965960"/>
            <a:ext cx="3566160" cy="3291840"/>
          </a:xfrm>
          <a:prstGeom prst="roundRect">
            <a:avLst>
              <a:gd name="adj" fmla="val 1944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2240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브랜드 콘텐츠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9260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 모델 이미지에 ‘AI 생성’ 워터마크 명시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965960"/>
            <a:ext cx="3566160" cy="3291840"/>
          </a:xfrm>
          <a:prstGeom prst="roundRect">
            <a:avLst>
              <a:gd name="adj" fmla="val 1944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0" y="2240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유튜브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9260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협찬 문구를 영상 시작 3초 내 자막으로 고지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19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8036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시대의</a:t>
            </a:r>
            <a:endParaRPr lang="en-US" sz="2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가짜뉴스 대응전략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26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24시간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1887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가짜뉴스와 정보조작의 이해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9659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딥페이크·AI 생성 허위정보 사례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7432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AI 기반 팩트체크 원리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35204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정보검증 전략 체크리스트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42976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제작자로서의 역할과 신뢰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2-1 · 개념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가짜뉴스, 세 가지로 구분해서 본다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3429000"/>
          </a:xfrm>
          <a:prstGeom prst="roundRect">
            <a:avLst>
              <a:gd name="adj" fmla="val 186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420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오정보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546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틀린 정보지만 퍼뜨리는 사람은 사실이라 믿음 (악의 없음)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566160" cy="3429000"/>
          </a:xfrm>
          <a:prstGeom prst="roundRect">
            <a:avLst>
              <a:gd name="adj" fmla="val 186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2148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Disinformation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5420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허위정보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1546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거짓임을 알면서도 의도적으로 유포 (악의적 조작)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566160" cy="3429000"/>
          </a:xfrm>
          <a:prstGeom prst="roundRect">
            <a:avLst>
              <a:gd name="adj" fmla="val 1867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0" y="2148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Malinformation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5420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악용정보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1546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사실이지만 해를 끼칠 목적으로 맥락을 왜곡해 유포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2-2 · 사례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딥페이크 · AI 생성 허위정보의 확산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0881360" cy="105156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 합성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96596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유명인 목소리를 복제해 허위 발언을 ‘사실처럼’ 유포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0881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0175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 합성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301752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실존 인물의 얼굴에 다른 행동을 합성 — 정치·연예 분야 악용 사례 다수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10881360" cy="105156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0690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생성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406908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6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챗봇이 존재하지 않는 통계·인용을 ‘그럴듯하게’ 생성(할루시네이션)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· 팩트체크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기반 팩트체크, 어떻게 작동하나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51460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26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 업로드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26974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29000" y="2377440"/>
            <a:ext cx="251460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926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입력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26974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309360" y="2377440"/>
            <a:ext cx="251460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926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대조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823960" y="26974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89720" y="2377440"/>
            <a:ext cx="2514600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7260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372600" y="2926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제시 답변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02336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방식: 업로드한 자료 ‘안에서만’ 답을 찾기 때문에, 모델이 자료에 없는 내용을 지어내는 할루시네이션 위험이 크게 줄어듭니다 — 이것이 RAG(검색증강생성)의 핵심 원리입니다.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· 실전 체크리스트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콘텐츠 소비자·제작자의 정보검증 5단계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 확인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8470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출처인가, 재인용인가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15768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8833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교차 검증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68833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사실을 다루는 다른 매체가 있는가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57016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557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52958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 맥락 확인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52958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언제·왜 작성되었는가, 맥락이 잘렸는가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98264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98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08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이미지·영상 역검색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37083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이미지가 다른 사건에서도 쓰였는가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39512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239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212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 여부 확인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5212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워터마크·메타데이터·탐지 도구로 확인했는가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19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실습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가짜뉴스 · 허위콘텐츠 구별 실습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워크시트의 5개 사례를 검증 5단계 체크리스트로 직접 판별해 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1064240" cy="182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주 예고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63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2주차 — 도메인에 맞는 뉴스 세팅하기 (1/3)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뉴스 4대 도메인 + 브랜드·트렌드로 확장, 로봇저널리즘·AI 기사생성 원리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[MBC 미디어캠퍼스] AI 기반 데이터 저널리스트 양성 과정 · 1주차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2026-09-11T05:07:52Z</dcterms:created>
  <dcterms:modified xsi:type="dcterms:W3CDTF">2026-09-11T05:07:52Z</dcterms:modified>
</cp:coreProperties>
</file>