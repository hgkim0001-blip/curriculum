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접수 건수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지갑</c:v>
                  </c:pt>
                  <c:pt idx="1">
                    <c:v>의류</c:v>
                  </c:pt>
                  <c:pt idx="2">
                    <c:v>가방</c:v>
                  </c:pt>
                  <c:pt idx="3">
                    <c:v>휴대전화</c:v>
                  </c:pt>
                  <c:pt idx="4">
                    <c:v>귀중품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36387</c:v>
                </c:pt>
                <c:pt idx="1">
                  <c:v>27226</c:v>
                </c:pt>
                <c:pt idx="2">
                  <c:v>20662</c:v>
                </c:pt>
                <c:pt idx="3">
                  <c:v>19966</c:v>
                </c:pt>
                <c:pt idx="4">
                  <c:v>11064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연령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bubble3D val="0"/>
            <c:spPr>
              <a:solidFill>
                <a:srgbClr val="CBD5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50대 34.8%</c:v>
                </c:pt>
                <c:pt idx="1">
                  <c:v>60대 이상 30.4%</c:v>
                </c:pt>
                <c:pt idx="2">
                  <c:v>그 외 34.8%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34.8</c:v>
                </c:pt>
                <c:pt idx="1">
                  <c:v>30.4</c:v>
                </c:pt>
                <c:pt idx="2">
                  <c:v>34.8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13주차는 40시간 중 32시간이 프로젝트2 완성·발표, 8시간이 ⑥ 데이터 시각화 착수입니다. 오늘 강의는 짧게 하고 제작 시간을 최대한 확보합니다.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주는 강의보다 제작이 중심입니다. 슬라이드는 제작 기준을 잡아주는 용도로 짧게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12주차 '정보프로그램 vs 다큐멘터리 구성 비교' 복습. 1층은 매거진 구조, 2층은 코너 VCR 6단계입니다. 결과를 먼저 보여주고 이유를 파고드는 역순형이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샘플은 세상에 이런 일이 형식을 레퍼런스로 삼았습니다. 현장 취재 없이 강의실에서 데이터와 공식 발표자료만으로 만들 수 있다는 점이 프로젝트2의 제작 조건과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단계에서 어떤 그림과 어떤 숫자가 쓰였는지 짚어줍니다. 학생들이 자기 프로젝트를 만들 때 이 표를 그대로 뼈대로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 시나리오를 만들며 실제로 걸러낸 함정 세 가지입니다. 프로젝트2 원고에서도 같은 실수가 나오기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9~11주차 팩트체크 실습에서 나온 세 가지 결함이 정보프로그램 제작에서 어떤 모습으로 다시 나타나는지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 시나리오의 실제 행을 보여주며 표기 규칙을 설명합니다. 학생들도 이 형식으로 시나리오를 제출합니다.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다섯 단계는 새로운 도구가 아니라 3~8주차에 각각 배운 것들을 순서대로 잇는 것입니다. 소스 제작 단계가 이번 주 시간을 가장 많이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 시나리오의 제작 노트에서 그대로 가져온 원칙입니다. 시청자를 속이지 않는 것이 정보프로그램 신뢰의 기본입니다.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취재를 못 나가는 대신, 강의실에서 퀴즈 판을 놓고 학생 반응을 찍어 체험·리액션 단계를 채웁니다. 반응을 연출하지 않는 것이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12주차 자료의 '인서트가 생명' 원칙을 실제 샘플 컷으로 보여줍니다. 소스 제작 첫날 학생들이 자기 시나리오에서 이 표를 뽑게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권장안입니다. 반 상황에 맞게 조정하되, 4일차 오전에 최종 렌더가 끝나야 오후 발표가 가능합니다.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방식과 평가기준의 상세는 '프로젝트2 완성·발표 가이드' 문서를 배포해 안내합니다. 배점은 프로젝트1과 같은 구조의 제안안입니다.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 프로그램에서 이미 쓴 막대그래프와 원그래프를 다시 그려 보여줍니다. 방송 화면의 CG를 만드는 능력이 ⑥ 단원의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학생이 코드를 직접 짜지는 않습니다. 강사가 준비한 코랩 노트북을 실행하며 데이터를 바꿔 넣는 방식이고, 판단은 '어떤 도구를 언제 쓸지'에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5일차는 8시간이며 착수 단계입니다. 마무리는 14주차(⑥ 완료 48h)에서 Flourish로 방송급 인포그래픽까지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14주차는 ⑥ 데이터 시각화 뉴스 콘텐츠 제작을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⑧ AI 기반 데이터 탐사보도 및 기사 자동화 + ⑥ 데이터 시각화 뉴스 콘텐츠 제작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 정보프로그램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완성·발표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「이게 사실일까?」로 보는 완성법 + 시각화 착수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80060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800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167,738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480060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4800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8,943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480060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4800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359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72200" y="4800600"/>
            <a:ext cx="1691640" cy="73152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480060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65.2%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믿기 힘든 이야기를 숫자로 확인한다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MBC 미디어캠퍼스 · AI 기반 데이터 저널리스트 양성 과정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샘플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목표 — 만들고, 검수하고, 발표한다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샘플로 완성 기준 확인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「이게 사실일까?」가 어떤 구조와 밀도로 만들어졌는지 눈으로 확인한다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6879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5479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05479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05479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읽는 함정 피하기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605479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셌는지, 언제 기준인지, 분모는 무엇인지 — 발행 전에 스스로 점검한다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05118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33718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371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33718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제작물 완성하기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33718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아바타·음성·재연 컷을 표기 원칙에 맞게 만들어 하나의 프로그램으로 편집한다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33358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261958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6195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261958" y="2606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시각화 착수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261958" y="3337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 데이터로 Matplotlib·Seaborn과 Flourish 차트를 첫 번째로 만들어본다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166360"/>
            <a:ext cx="8827618" cy="6858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21978" y="5166360"/>
            <a:ext cx="221833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166360"/>
            <a:ext cx="84161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⑧ 프로젝트2 완성·발표 32h  (1~4일차)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513418" y="5166360"/>
            <a:ext cx="20354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시각화 8h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(5일차)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 40시간의 배분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샘플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정보프로그램은 두 겹 구조 — 프로그램 안에 코너가 들어간다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· 프로그램 전체 (매거진 구조)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437790" y="19659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37790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스튜디오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26941" y="19659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26941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코너1 VCR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16091" y="19659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6091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105242" y="19659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05242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코너2 VCR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994392" y="19659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994392" y="1965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클로징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2461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· 코너 VCR 내부 (6단계) — 결과 → 궁금증 → 비밀 공개 → 확인 → 정리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6118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58368" y="37033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훅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41148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결과부터 보여주는 그림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7091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709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그림으로 승부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437790" y="36118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547518" y="37033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궁금증 제기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547518" y="41148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"도대체 왜?"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529230" y="47091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529230" y="4709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자막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326941" y="36118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4436669" y="37033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현장·인물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4436669" y="41148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장소, 주인공 사연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418381" y="47091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418381" y="4709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 한 장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16091" y="36118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325819" y="37033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과정 공개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325819" y="41148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정보의 핵심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307531" y="47091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307531" y="4709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비밀을 푸는 근거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105242" y="36118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14970" y="37033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체험·리액션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8214970" y="41148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체험, 반응으로 확인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196682" y="47091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D1FAE5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96682" y="4709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현장·체험으로 검증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994392" y="36118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10104120" y="37033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정리·마무리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10104120" y="4114800"/>
            <a:ext cx="1426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 정보로 닫기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10085832" y="4709160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10085832" y="4709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 정보 + 출처 자막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822960" y="54864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데이터는 궁금증을 만들고 결과를 정리하는 앞뒤에 쓰고, 가운데(과정·체험)는 현장 그림으로 채운다 — 그래야 정보프로그램의 속도감이 살아난다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샘플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「이게 사실일까?」 — 이번 회 테마는 '물건'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 타이틀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37790" y="16459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37790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 스튜디오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6941" y="16459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26941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 코너1 VCR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6091" y="16459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6091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 브릿지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105242" y="16459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5242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#5 코너2 VCR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994392" y="164592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94392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 클로징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2743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29260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29260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737360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유실물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"왜 방화역일까?"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886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유실물 16만 7,738건 중 1위는 5호선 방화역 8,943건 — 사람이 붐비는 역이 아니다. 이유는 종착역이라는 것.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45352" y="274320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73952" y="292608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73952" y="29260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코너2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434072" y="29260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 광고 해외쇼핑몰 피해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473952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"겨울바지가 왜 여름바지로 왔을까?"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473952" y="3886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상반기 상담 359건, 피해자의 65.2%가 50대 이상. 광고와 다른 물건이 오고 환불은 거부.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5349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믿기 힘든 이야기를 숫자로 확인한다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429768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297680" y="5349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아바타 MC 2인 (HeyGen)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804672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조건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046720" y="5349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촬영 없이 데이터·공식 발표자료로 제작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샘플 해부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 VCR 6단계에 샘플을 대입해 보면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800600"/>
                <a:gridCol w="45537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코너1  지하철 유실물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코너2  유튜브 광고 해외쇼핑몰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지하철에 남은 기념품·빵 봉투 AI 재연 몽타주, "실제 접수된 유실물"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속 겨울바지 vs 배송된 얇은 바지 AI 재연 분할화면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궁금증 제기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16만 7,738건, 1위는 방화역 8,943건 — "왜 방화역일까?"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올해 상반기 상담 359건, 1월 31건에서 6월 142건으로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현장·인물 소개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유실물의 여정 흐름도 + 품목 막대그래프(지갑 36,387건 1위)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피해 사례(환급 30%→50%, 전액 거부) + 건당 평균 7만 849원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과정 공개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2~5위도 모두 종착역 → "접수된 곳 ≠ 잃어버린 곳"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 확인 339건 중 50대 이상 65.2%, 해외 사이트인데 국내 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체험·리액션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경찰민원24 검색 화면녹화 + 강의실 퀴즈(가장 안 찾아가는 물건은?)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쇼핑몰 목업 사업자 정보 확인 + 퀴즈(피해 유형 1위는?)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정리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고객센터 1577-1234, 알릴 것 3가지 + 출처 자막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차지백(120~180일)·1372 상담 + 출처 자막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617220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서울교통공사 유실물 통계 발표, 서울시전자상거래센터·한국소비자원 상담 분석 (13주차 샘플 시나리오 참고)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숫자 읽는 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읽기 전에, 무엇을 셌는지부터 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접수된 곳 ≠ 잃어버린 곳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60604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2697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쓰면 오류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99923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방화역 승객이 물건을 가장 많이 잃어버린다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4114800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206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쓴다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507992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방화역은 발견돼 접수된 건수가 가장 많다 (종착역 점검 때 접수)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34256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62856" y="1874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6285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157216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≠ 피해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517136" y="260604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0016" y="2697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쓰면 오류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700016" y="299923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 359건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17136" y="4114800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00016" y="4206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쓴다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700016" y="4507992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359건 ("피해 359건"으로 쓰지 않는다)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119872" y="169164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348472" y="18745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4847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942832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시점을 섞지 않는다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302752" y="260604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85632" y="26974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쓰면 오류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485632" y="2999232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인계율을 2025년 수치와 한 화면에 나란히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302752" y="4114800"/>
            <a:ext cx="3154680" cy="1691640"/>
          </a:xfrm>
          <a:prstGeom prst="roundRect">
            <a:avLst>
              <a:gd name="adj" fmla="val 324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485632" y="4206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쓴다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485632" y="4507992"/>
            <a:ext cx="2788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"2022년 기준"을 붙이고 분리해서 보여준다 (의류 1,833/18,333건, 휴대전화 94.1%)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숫자 읽는 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전 숫자 점검표 — 팩트체크 실습에서 걸렸던 결함과 연결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3794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837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17647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셌는가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057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발견·접수·상담·신고 — 세는 대상을 자막에 그대로 쓴다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587752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73405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734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2660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기준인가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9535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시점과 집계 기간을 확인하고 다른 해의 수치와 섞지 않는다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483864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31520" y="36301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630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5570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분모는 무엇인가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71600" y="38496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"연령 확인된 339건 기준"처럼 비율의 기준 건수를 밝힌다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379976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4526280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4526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출처인가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474573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발표자료·원 보도자료로 확인하고 자막에 출처를 넣는다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276088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1520" y="54223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422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37160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지어낸 것은 없는가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371600" y="56418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코멘트·경험담·수치를 만들어 넣지 않았는지 훑는다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67665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샘플에서 이렇게 막았다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766560" y="2057400"/>
            <a:ext cx="4873752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995160" y="21762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혼합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995160" y="25146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접수된 곳과 잃어버린 곳, 2022년과 2025년 수치를 한 문장에 섞지 않는다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66560" y="3429000"/>
            <a:ext cx="4873752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95160" y="35478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근거보다 세게 말하기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995160" y="3886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2~5월 상담 수치를 못 구하면 1월·6월 두 막대만 쓰고 "급증 추세"라고 말하지 않는다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766560" y="4800600"/>
            <a:ext cx="4873752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995160" y="49194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지어낸 코멘트·경험담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995160" y="52578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아바타에게 개인 경험담을 붙이지 않고, 학생 리액션 대사도 미리 정해주지 않는다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제작 워크플로우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시나리오는 2단 표 — 왼쪽은 눈, 오른쪽은 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| 오디오 두 칸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장면마다 화면에 무엇이 보이는지와 무엇이 들리는지를 나란히 적는다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코너는 6단계 소제목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훅 ~ ⑥ 정리 순서로 나눠 흐름이 끊기지 않는지 확인한다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통일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892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MC1·MC2 = 아바타 진행자, NA = 내레이션, ※ = 제작 시 주의·확인 사항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91640"/>
          <a:ext cx="68854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77647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(VIDEO)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오디오 (AUDIO)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궁금증 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 hMerge="1"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 CG: 카운터 0 → 167,738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NA: 지난해 서울 지하철 유실물은 16만 7,738건. 하루 약 460건, 3분마다 한 건꼴입니다.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방화역 역명판 CG + 8,943건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NA: 1위는 5호선 방화역. 한 해 8,943건이 이곳에 접수됐습니다.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체험·리액션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 hMerge="1"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화면녹화: 경찰민원24 유실물 검색 + 우측 하단 MC1 아바타 PIP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MC1(보이스): 실제로 찾아보겠습니다. ※ 검색 결과 속 개인정보는 모자이크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4754880" y="5349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샘플 시나리오의 행 (13주차_정보프로그램_샘플_시나리오)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제작 워크플로우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파이프라인 — 지금까지 배운 도구를 한 줄로 잇는다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데이터·팩트체크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85800" y="26060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구글시트·API 수집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355848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355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AI챗봇으로 정제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85800" y="4105656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1056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교차검증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2587752" y="35661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807208" y="169164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07208" y="16916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07208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시나리오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2944368" y="26060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90088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표(영상|오디오)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944368" y="3355848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90088" y="3355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방송뉴스원고작성봇 v1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944368" y="4105656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90088" y="41056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검수 체크리스트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35661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65776" y="169164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65776" y="16916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65776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소스 제작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202936" y="26060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248656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HeyGen 아바타 MC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5202936" y="3355848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48656" y="3355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내레이션 음성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202936" y="4105656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248656" y="41056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재연 컷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202936" y="4855464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248656" y="4855464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화면녹화·강의실 촬영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7104888" y="35661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324344" y="169164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324344" y="16916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24344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모션·편집</a:t>
            </a:r>
            <a:endParaRPr lang="en-US" sz="1450" dirty="0"/>
          </a:p>
        </p:txBody>
      </p:sp>
      <p:sp>
        <p:nvSpPr>
          <p:cNvPr id="41" name="Shape 38"/>
          <p:cNvSpPr/>
          <p:nvPr/>
        </p:nvSpPr>
        <p:spPr>
          <a:xfrm>
            <a:off x="7461504" y="26060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507224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 타이틀·CG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7461504" y="3355848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07224" y="3355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편집·자막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7461504" y="4105656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507224" y="41056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믹싱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9363456" y="356616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582912" y="169164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9582912" y="169164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582912" y="16916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검수·제출</a:t>
            </a:r>
            <a:endParaRPr lang="en-US" sz="1450" dirty="0"/>
          </a:p>
        </p:txBody>
      </p:sp>
      <p:sp>
        <p:nvSpPr>
          <p:cNvPr id="51" name="Shape 48"/>
          <p:cNvSpPr/>
          <p:nvPr/>
        </p:nvSpPr>
        <p:spPr>
          <a:xfrm>
            <a:off x="9720072" y="260604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765792" y="26060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표기 확인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9720072" y="3355848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65792" y="3355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숫자·출처 자막 확인</a:t>
            </a:r>
            <a:endParaRPr lang="en-US" sz="1250" dirty="0"/>
          </a:p>
        </p:txBody>
      </p:sp>
      <p:sp>
        <p:nvSpPr>
          <p:cNvPr id="55" name="Shape 52"/>
          <p:cNvSpPr/>
          <p:nvPr/>
        </p:nvSpPr>
        <p:spPr>
          <a:xfrm>
            <a:off x="9720072" y="4105656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65792" y="410565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렌더</a:t>
            </a:r>
            <a:endParaRPr lang="en-US" sz="1250" dirty="0"/>
          </a:p>
        </p:txBody>
      </p:sp>
      <p:sp>
        <p:nvSpPr>
          <p:cNvPr id="57" name="Text 54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만든 시나리오가 소스 제작의 주문서 — 표기·금지 사항은 시나리오 단계에서 ※로 미리 적어둔다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제작 워크플로우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만든 것은 AI라고 밝힌다 — 표기 원칙 4가지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9202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진행자 표기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877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아바타 MC가 나오는 스튜디오 화면에는 내내 상단에 "AI 아바타 진행"을 표기한다. 내레이션은 MC와 구분되는 제3의 목소리를 쓴다.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19202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7395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59752" y="19202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재연 컷 표기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519672" y="258775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만든 모든 재연 컷에 "AI 재연"을 표기한다. 실제 접수·상담 사례를 재연했더라도 마찬가지다.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4160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 대상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8280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로고, 실존 인물 얼굴, 실제 업체명·도메인이 연상되는 화면은 만들지 않는다. 쇼핑몰은 가상 목업으로 만든다.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45352" y="393192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73952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7395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159752" y="4160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지어내지 않기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519672" y="482803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아바타에게 개인 경험담을 붙이지 않는다. 화면녹화 속 개인정보는 모자이크 처리한다.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제작 워크플로우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강의실 촬영 — 퀴즈는 데이터에서, 반응은 진짜로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퀴즈를 데이터에서 만든다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148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 반드시 출처가 있는 수치여야 한다. 보기는 4개.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반응을 촬영한다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4747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샘플은 코너당 1회, 총 2회 촬영. 대사를 미리 정해주지 않는다.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CG로 공개한다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800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함께 기준 연도·건수를 자막으로 밝힌다.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120640" y="1691640"/>
            <a:ext cx="651967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4924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4924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코너1 퀴즈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349240" y="2313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가장 안 찾아가는 물건은?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349240" y="27157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지갑  ② 휴대전화  ③ 가방  ④ 옷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349240" y="3154680"/>
            <a:ext cx="606247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0" y="3154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④ 옷 — 2022년 기준 1만 8,333건 중 1,833건만 주인에게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120640" y="3931920"/>
            <a:ext cx="651967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49240" y="411480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4924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코너2 퀴즈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5349240" y="455371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접수된 피해 유형은?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349240" y="4956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허위·과장광고  ② 환불 거부  ③ 판매자 연락 두절  ④ 배송 문제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349240" y="5394960"/>
            <a:ext cx="6062472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0" y="5394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①과 ② 공동 1위 — 각 24.0%(86건)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제작 워크플로우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전에 인서트 리스트부터 뽑는다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463040"/>
                <a:gridCol w="4480560"/>
                <a:gridCol w="9418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컷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표기·확인 사항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방화역 역명판 + 8,943건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자막 삽입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노선도 핀 (2~5위 역)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CG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"열차가 운행을 마치는 역"으로 표기되는지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열차 객실을 점검하는 직원 실루엣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재연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"AI 재연" 표기, 얼굴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경찰민원24 유실물 검색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화면녹화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모자이크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속 바지 vs 배송된 바지 분할화면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재연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"광고 / 실제 배송", "AI 재연" 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쇼핑몰 결제 화면·사업자 정보 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업체명·로고·도메인이 연상되지 않게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53212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5321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실패  오프닝·소개가 길어져 핵심 정보 구간(과정 공개)이 짧아진다 — 인서트는 과정 공개에 가장 많이 쓴다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일정과 발표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32시간 운영 일정 (권장안) + 5일차 시각화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데이터·시나리오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74320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7432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수집·정제 마무리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85800" y="347472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747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NotebookLM 팩트체크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420624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2062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2단 표 초고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" y="493776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377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확인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807208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807208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990088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2990088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제작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944368" y="274320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90088" y="27432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확정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944368" y="347472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990088" y="34747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HeyGen 아바타·음성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944368" y="420624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990088" y="42062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재연 컷 제작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2944368" y="493776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90088" y="49377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화면녹화·강의실 촬영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65776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65776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248656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24865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모션·편집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202936" y="274320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248656" y="27432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 타이틀·CG 제작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202936" y="347472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48656" y="34747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Premiere 편집·자막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202936" y="420624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48656" y="42062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믹싱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202936" y="493776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248656" y="49377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가편집본 완성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324344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324344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507224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750722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검수·발표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7461504" y="274320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507224" y="27432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검수·수정·최종 렌더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461504" y="347472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507224" y="34747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완성작 상영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7461504" y="420624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507224" y="42062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1분 + 질의응답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461504" y="493776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07224" y="49377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정리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9582912" y="1691640"/>
            <a:ext cx="2057400" cy="41605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582912" y="169164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65792" y="17647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976579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시각화 착수</a:t>
            </a:r>
            <a:endParaRPr lang="en-US" sz="1250" dirty="0"/>
          </a:p>
        </p:txBody>
      </p:sp>
      <p:sp>
        <p:nvSpPr>
          <p:cNvPr id="58" name="Shape 55"/>
          <p:cNvSpPr/>
          <p:nvPr/>
        </p:nvSpPr>
        <p:spPr>
          <a:xfrm>
            <a:off x="9720072" y="274320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65792" y="274320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 데이터 차트화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9720072" y="347472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765792" y="34747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Matplotlib·Seaborn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9720072" y="420624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765792" y="420624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 첫 차트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9720072" y="4937760"/>
            <a:ext cx="1783080" cy="603504"/>
          </a:xfrm>
          <a:prstGeom prst="roundRect">
            <a:avLst>
              <a:gd name="adj" fmla="val 7576"/>
            </a:avLst>
          </a:prstGeom>
          <a:solidFill>
            <a:srgbClr val="F4F6FA"/>
          </a:solidFill>
          <a:ln w="6350">
            <a:solidFill>
              <a:srgbClr val="D9DEE7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765792" y="49377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8h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8h × 4일 = 프로젝트2 32h  /  5일차 8h = ⑥ 시각화 착수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일정과 발표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발표는 상영 + 1분 설명 + 질의응답 — 상세는 별도 가이드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방식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35915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167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완성작 상영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5146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 전체를 상영한다 (분량 제한 없음)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33756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363931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39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3447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구두 설명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주제를 고른 이유 ② 데이터 출처와 팩트체크 방법 ③ 가장 어려웠던 부분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9194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919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727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질의응답·피드백</a:t>
            </a:r>
            <a:endParaRPr lang="en-US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5074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동료·강사 피드백을 받아 프로젝트3 준비에 반영한다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(100점, 제안안)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126480" y="2057400"/>
            <a:ext cx="551383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263640" y="2057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2121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기획·주제 선정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2404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가설을 데이터로 검증할 수 있게 구체화했는가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126480" y="2843784"/>
            <a:ext cx="551383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263640" y="2843784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24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2907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데이터·팩트체크 충실도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31912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수집·정제·팩트체크 근거가 명확한가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26480" y="3630168"/>
            <a:ext cx="551383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263640" y="3630168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3694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시나리오·원고 완성도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표, 원고 검수 체크리스트 준수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26480" y="4416552"/>
            <a:ext cx="551383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263640" y="4416552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2400" dirty="0"/>
          </a:p>
        </p:txBody>
      </p:sp>
      <p:sp>
        <p:nvSpPr>
          <p:cNvPr id="37" name="Text 34"/>
          <p:cNvSpPr txBox="1"/>
          <p:nvPr/>
        </p:nvSpPr>
        <p:spPr>
          <a:xfrm>
            <a:off x="7132320" y="4480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영상·편집 완성도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132320" y="47640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코너 VCR 6단계, 편집 완성도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126480" y="5202936"/>
            <a:ext cx="551383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263640" y="5202936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2400" dirty="0"/>
          </a:p>
        </p:txBody>
      </p:sp>
      <p:sp>
        <p:nvSpPr>
          <p:cNvPr id="41" name="Text 38"/>
          <p:cNvSpPr txBox="1"/>
          <p:nvPr/>
        </p:nvSpPr>
        <p:spPr>
          <a:xfrm>
            <a:off x="7132320" y="52669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형식·표기 준수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7132320" y="5550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 구조, AI 표기 원칙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⑥ 시각화 착수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속 CG가 곧 데이터 시각화의 출발점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6035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유실물 품목별 접수 건수 (건)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10312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12280" y="1645920"/>
            <a:ext cx="482803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708660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피해자 연령 (연령 확인된 339건 기준, %)</a:t>
            </a:r>
            <a:endParaRPr lang="en-US" sz="14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949440" y="2194560"/>
          <a:ext cx="4572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8640" y="6217920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쓴 차트 + "무엇을 셌는지" 자막 = 시각화와 팩트체크가 한 번에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⑥ 시각화 착수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세 가지 — 언제 무엇을 쓰는지 판단한다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Matplotlib · Seaborn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12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구글 코랩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517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준비한 노트북에 내 데이터를 넣어 실행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탐색하며 정확한 정적 차트를 그릴 때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폰트 설치 등 환경 설정이 노트북에 포함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4256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62856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4562856" y="2212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노코드 · 웹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62856" y="26517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붙여 넣고 템플릿을 골라 만든다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방송용 인포그래픽·움직이는 차트에 적합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빠르게 여러 안을 비교할 때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19872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48472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Effects · Photoshop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348472" y="22128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7주차에서 익힌 마감 도구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6517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차트를 방송 CG로 다듬어 화면에 얹는다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카운터·핀·강조 자막 등 모션 처리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프로그램의 그래픽 톤을 통일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고르는 기준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5303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→ 막대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3520" y="5303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→ 원·도넛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5303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→ 선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5303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→ 지도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⑥ 시각화 착수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 실습 — 내 프로젝트 데이터로 차트 2개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13주차 · 프로젝트2 정보프로그램 완성·발표 + ⑥ 시각화 착수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1109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783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보여줄 숫자 고르기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3055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프로젝트2에서 시청자에게 꼭 보여줄 숫자 1~2개를 고른다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4320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6265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08760" y="2834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종류 정하기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1821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비교·비율·변화·위치 중 무엇을 보여줄지 정하고 이유를 한 줄로 적는다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01421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38862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도구로 그리기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4233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코랩(Matplotlib·Seaborn)으로 1개, Flourish로 1개를 만든다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846320"/>
            <a:ext cx="6949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506577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5065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508760" y="4937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제목에 기준 밝히기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508760" y="52852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셌는지, 기준 시점, 분모를 차트 제목·자막에 넣는다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863840" y="1691640"/>
            <a:ext cx="3776472" cy="201168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813816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 산출물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2402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2개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선택 이유 메모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7863840" y="3931920"/>
            <a:ext cx="37764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138160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(14주차)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4805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Flourish로 방송급 인포그래픽을 완성하고 ⑥ 데이터 시각화 뉴스 콘텐츠 제작 48h를 마무리한다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핵심 정리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정보프로그램은 프로그램(1층) 안에 코너 VCR 6단계(2층)가 들어간 두 겹 구조다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2316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읽기 전에 무엇을 셌는지, 언제 기준인지, 분모가 무엇인지부터 확인한다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918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아바타·재연 컷은 반드시 표기하고, 로고·실존 인물·개인정보는 쓰지 않는다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6052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2단 표와 인서트 리스트로 시작하면 제작이 흔들리지 않는다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02920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5일차에는 내 데이터를 차트로 만들며 ⑥ 시각화를 시작한다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시간(14주차): ⑥ 데이터 시각화 마무리 — Flourish로 방송급 인포그래픽 완성 [⑥ 완료 48h]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13주차 강의안 - 프로젝트2 정보프로그램 완성·발표 + 시각화 착수</dc:title>
  <dc:subject>PptxGenJS Presentation</dc:subject>
  <dc:creator>PptxGenJS</dc:creator>
  <cp:lastModifiedBy>PptxGenJS</cp:lastModifiedBy>
  <cp:revision>1</cp:revision>
  <dcterms:created xsi:type="dcterms:W3CDTF">2026-09-21T02:34:08Z</dcterms:created>
  <dcterms:modified xsi:type="dcterms:W3CDTF">2026-09-21T02:34:08Z</dcterms:modified>
</cp:coreProperties>
</file>